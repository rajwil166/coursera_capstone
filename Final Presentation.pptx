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60" r:id="rId4"/>
    <p:sldId id="261" r:id="rId5"/>
    <p:sldId id="262" r:id="rId6"/>
    <p:sldId id="263" r:id="rId7"/>
    <p:sldId id="264" r:id="rId8"/>
    <p:sldId id="265" r:id="rId9"/>
    <p:sldId id="266" r:id="rId10"/>
    <p:sldId id="267" r:id="rId11"/>
    <p:sldId id="258"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2164373-F387-4798-986F-ED4E331E50C8}" v="1" dt="2018-12-06T10:31:48.85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jesh Wilson" userId="0cc5316391adb53e" providerId="Windows Live" clId="Web-{E04E37FC-CB87-4091-A28C-9108B59B5C3A}"/>
    <pc:docChg chg="addSld modSld">
      <pc:chgData name="Rajesh Wilson" userId="0cc5316391adb53e" providerId="Windows Live" clId="Web-{E04E37FC-CB87-4091-A28C-9108B59B5C3A}" dt="2018-12-06T08:48:38.615" v="277"/>
      <pc:docMkLst>
        <pc:docMk/>
      </pc:docMkLst>
      <pc:sldChg chg="addSp modSp">
        <pc:chgData name="Rajesh Wilson" userId="0cc5316391adb53e" providerId="Windows Live" clId="Web-{E04E37FC-CB87-4091-A28C-9108B59B5C3A}" dt="2018-12-06T08:44:43.708" v="264" actId="14100"/>
        <pc:sldMkLst>
          <pc:docMk/>
          <pc:sldMk cId="109857222" sldId="256"/>
        </pc:sldMkLst>
        <pc:spChg chg="mod">
          <ac:chgData name="Rajesh Wilson" userId="0cc5316391adb53e" providerId="Windows Live" clId="Web-{E04E37FC-CB87-4091-A28C-9108B59B5C3A}" dt="2018-12-06T08:37:32.285" v="95" actId="20577"/>
          <ac:spMkLst>
            <pc:docMk/>
            <pc:sldMk cId="109857222" sldId="256"/>
            <ac:spMk id="2" creationId="{00000000-0000-0000-0000-000000000000}"/>
          </ac:spMkLst>
        </pc:spChg>
        <pc:spChg chg="mod">
          <ac:chgData name="Rajesh Wilson" userId="0cc5316391adb53e" providerId="Windows Live" clId="Web-{E04E37FC-CB87-4091-A28C-9108B59B5C3A}" dt="2018-12-06T08:43:16.442" v="228" actId="20577"/>
          <ac:spMkLst>
            <pc:docMk/>
            <pc:sldMk cId="109857222" sldId="256"/>
            <ac:spMk id="3" creationId="{00000000-0000-0000-0000-000000000000}"/>
          </ac:spMkLst>
        </pc:spChg>
        <pc:spChg chg="add mod">
          <ac:chgData name="Rajesh Wilson" userId="0cc5316391adb53e" providerId="Windows Live" clId="Web-{E04E37FC-CB87-4091-A28C-9108B59B5C3A}" dt="2018-12-06T08:44:43.708" v="264" actId="14100"/>
          <ac:spMkLst>
            <pc:docMk/>
            <pc:sldMk cId="109857222" sldId="256"/>
            <ac:spMk id="4" creationId="{413FA999-FDC7-45E4-9B3E-B71833FE809A}"/>
          </ac:spMkLst>
        </pc:spChg>
      </pc:sldChg>
      <pc:sldChg chg="modSp new">
        <pc:chgData name="Rajesh Wilson" userId="0cc5316391adb53e" providerId="Windows Live" clId="Web-{E04E37FC-CB87-4091-A28C-9108B59B5C3A}" dt="2018-12-06T08:48:08.755" v="276" actId="20577"/>
        <pc:sldMkLst>
          <pc:docMk/>
          <pc:sldMk cId="3357844805" sldId="257"/>
        </pc:sldMkLst>
        <pc:spChg chg="mod">
          <ac:chgData name="Rajesh Wilson" userId="0cc5316391adb53e" providerId="Windows Live" clId="Web-{E04E37FC-CB87-4091-A28C-9108B59B5C3A}" dt="2018-12-06T08:47:40.271" v="268" actId="20577"/>
          <ac:spMkLst>
            <pc:docMk/>
            <pc:sldMk cId="3357844805" sldId="257"/>
            <ac:spMk id="2" creationId="{90573FFE-EAF3-41D3-A29A-65C2C756879E}"/>
          </ac:spMkLst>
        </pc:spChg>
        <pc:spChg chg="mod">
          <ac:chgData name="Rajesh Wilson" userId="0cc5316391adb53e" providerId="Windows Live" clId="Web-{E04E37FC-CB87-4091-A28C-9108B59B5C3A}" dt="2018-12-06T08:48:08.755" v="276" actId="20577"/>
          <ac:spMkLst>
            <pc:docMk/>
            <pc:sldMk cId="3357844805" sldId="257"/>
            <ac:spMk id="3" creationId="{6B3A00B0-F5AF-4009-BC71-4340C70F30AE}"/>
          </ac:spMkLst>
        </pc:spChg>
      </pc:sldChg>
      <pc:sldChg chg="new">
        <pc:chgData name="Rajesh Wilson" userId="0cc5316391adb53e" providerId="Windows Live" clId="Web-{E04E37FC-CB87-4091-A28C-9108B59B5C3A}" dt="2018-12-06T08:48:38.615" v="277"/>
        <pc:sldMkLst>
          <pc:docMk/>
          <pc:sldMk cId="2554202921" sldId="258"/>
        </pc:sldMkLst>
      </pc:sldChg>
    </pc:docChg>
  </pc:docChgLst>
  <pc:docChgLst>
    <pc:chgData name="Rajesh Wilson" userId="0cc5316391adb53e" providerId="Windows Live" clId="Web-{B2164373-F387-4798-986F-ED4E331E50C8}"/>
    <pc:docChg chg="addSld delSld modSld">
      <pc:chgData name="Rajesh Wilson" userId="0cc5316391adb53e" providerId="Windows Live" clId="Web-{B2164373-F387-4798-986F-ED4E331E50C8}" dt="2018-12-06T10:52:39.377" v="2631" actId="20577"/>
      <pc:docMkLst>
        <pc:docMk/>
      </pc:docMkLst>
      <pc:sldChg chg="modSp">
        <pc:chgData name="Rajesh Wilson" userId="0cc5316391adb53e" providerId="Windows Live" clId="Web-{B2164373-F387-4798-986F-ED4E331E50C8}" dt="2018-12-06T10:03:20.226" v="210" actId="20577"/>
        <pc:sldMkLst>
          <pc:docMk/>
          <pc:sldMk cId="3357844805" sldId="257"/>
        </pc:sldMkLst>
        <pc:spChg chg="mod">
          <ac:chgData name="Rajesh Wilson" userId="0cc5316391adb53e" providerId="Windows Live" clId="Web-{B2164373-F387-4798-986F-ED4E331E50C8}" dt="2018-12-06T09:49:35.521" v="100" actId="20577"/>
          <ac:spMkLst>
            <pc:docMk/>
            <pc:sldMk cId="3357844805" sldId="257"/>
            <ac:spMk id="2" creationId="{90573FFE-EAF3-41D3-A29A-65C2C756879E}"/>
          </ac:spMkLst>
        </pc:spChg>
        <pc:spChg chg="mod">
          <ac:chgData name="Rajesh Wilson" userId="0cc5316391adb53e" providerId="Windows Live" clId="Web-{B2164373-F387-4798-986F-ED4E331E50C8}" dt="2018-12-06T10:03:20.226" v="210" actId="20577"/>
          <ac:spMkLst>
            <pc:docMk/>
            <pc:sldMk cId="3357844805" sldId="257"/>
            <ac:spMk id="3" creationId="{6B3A00B0-F5AF-4009-BC71-4340C70F30AE}"/>
          </ac:spMkLst>
        </pc:spChg>
      </pc:sldChg>
      <pc:sldChg chg="modSp">
        <pc:chgData name="Rajesh Wilson" userId="0cc5316391adb53e" providerId="Windows Live" clId="Web-{B2164373-F387-4798-986F-ED4E331E50C8}" dt="2018-12-06T10:52:35.377" v="2629" actId="20577"/>
        <pc:sldMkLst>
          <pc:docMk/>
          <pc:sldMk cId="2554202921" sldId="258"/>
        </pc:sldMkLst>
        <pc:spChg chg="mod">
          <ac:chgData name="Rajesh Wilson" userId="0cc5316391adb53e" providerId="Windows Live" clId="Web-{B2164373-F387-4798-986F-ED4E331E50C8}" dt="2018-12-06T09:46:15.013" v="89" actId="20577"/>
          <ac:spMkLst>
            <pc:docMk/>
            <pc:sldMk cId="2554202921" sldId="258"/>
            <ac:spMk id="2" creationId="{73AE8A54-60F1-4707-8B42-C8D051D3A89D}"/>
          </ac:spMkLst>
        </pc:spChg>
        <pc:spChg chg="mod">
          <ac:chgData name="Rajesh Wilson" userId="0cc5316391adb53e" providerId="Windows Live" clId="Web-{B2164373-F387-4798-986F-ED4E331E50C8}" dt="2018-12-06T10:52:35.377" v="2629" actId="20577"/>
          <ac:spMkLst>
            <pc:docMk/>
            <pc:sldMk cId="2554202921" sldId="258"/>
            <ac:spMk id="3" creationId="{B3D15118-895B-43E1-9489-366D7CEF5611}"/>
          </ac:spMkLst>
        </pc:spChg>
      </pc:sldChg>
      <pc:sldChg chg="modSp new del">
        <pc:chgData name="Rajesh Wilson" userId="0cc5316391adb53e" providerId="Windows Live" clId="Web-{B2164373-F387-4798-986F-ED4E331E50C8}" dt="2018-12-06T10:51:41.187" v="2604"/>
        <pc:sldMkLst>
          <pc:docMk/>
          <pc:sldMk cId="1977430203" sldId="259"/>
        </pc:sldMkLst>
        <pc:spChg chg="mod">
          <ac:chgData name="Rajesh Wilson" userId="0cc5316391adb53e" providerId="Windows Live" clId="Web-{B2164373-F387-4798-986F-ED4E331E50C8}" dt="2018-12-06T10:02:00.207" v="194" actId="20577"/>
          <ac:spMkLst>
            <pc:docMk/>
            <pc:sldMk cId="1977430203" sldId="259"/>
            <ac:spMk id="2" creationId="{B2DAC5A2-7988-4C2B-956A-5766B47AC519}"/>
          </ac:spMkLst>
        </pc:spChg>
      </pc:sldChg>
      <pc:sldChg chg="modSp new">
        <pc:chgData name="Rajesh Wilson" userId="0cc5316391adb53e" providerId="Windows Live" clId="Web-{B2164373-F387-4798-986F-ED4E331E50C8}" dt="2018-12-06T10:51:25.640" v="2603" actId="1076"/>
        <pc:sldMkLst>
          <pc:docMk/>
          <pc:sldMk cId="2730731805" sldId="260"/>
        </pc:sldMkLst>
        <pc:spChg chg="mod">
          <ac:chgData name="Rajesh Wilson" userId="0cc5316391adb53e" providerId="Windows Live" clId="Web-{B2164373-F387-4798-986F-ED4E331E50C8}" dt="2018-12-06T10:51:25.640" v="2603" actId="1076"/>
          <ac:spMkLst>
            <pc:docMk/>
            <pc:sldMk cId="2730731805" sldId="260"/>
            <ac:spMk id="2" creationId="{774E75F3-C855-466D-BCDF-E9CF5D7AE4CE}"/>
          </ac:spMkLst>
        </pc:spChg>
        <pc:spChg chg="mod">
          <ac:chgData name="Rajesh Wilson" userId="0cc5316391adb53e" providerId="Windows Live" clId="Web-{B2164373-F387-4798-986F-ED4E331E50C8}" dt="2018-12-06T10:12:45.812" v="666" actId="20577"/>
          <ac:spMkLst>
            <pc:docMk/>
            <pc:sldMk cId="2730731805" sldId="260"/>
            <ac:spMk id="3" creationId="{B37B4904-3BA7-4DFB-955E-6C21A602CCD1}"/>
          </ac:spMkLst>
        </pc:spChg>
      </pc:sldChg>
      <pc:sldChg chg="addSp delSp modSp new">
        <pc:chgData name="Rajesh Wilson" userId="0cc5316391adb53e" providerId="Windows Live" clId="Web-{B2164373-F387-4798-986F-ED4E331E50C8}" dt="2018-12-06T10:32:05.233" v="1573" actId="20577"/>
        <pc:sldMkLst>
          <pc:docMk/>
          <pc:sldMk cId="554969697" sldId="261"/>
        </pc:sldMkLst>
        <pc:spChg chg="mod">
          <ac:chgData name="Rajesh Wilson" userId="0cc5316391adb53e" providerId="Windows Live" clId="Web-{B2164373-F387-4798-986F-ED4E331E50C8}" dt="2018-12-06T10:15:08.489" v="776" actId="20577"/>
          <ac:spMkLst>
            <pc:docMk/>
            <pc:sldMk cId="554969697" sldId="261"/>
            <ac:spMk id="2" creationId="{2C485D28-9914-4FF0-A59E-23CC952B7419}"/>
          </ac:spMkLst>
        </pc:spChg>
        <pc:spChg chg="mod">
          <ac:chgData name="Rajesh Wilson" userId="0cc5316391adb53e" providerId="Windows Live" clId="Web-{B2164373-F387-4798-986F-ED4E331E50C8}" dt="2018-12-06T10:32:05.233" v="1573" actId="20577"/>
          <ac:spMkLst>
            <pc:docMk/>
            <pc:sldMk cId="554969697" sldId="261"/>
            <ac:spMk id="3" creationId="{93B86272-444B-44DB-934B-74E1008A7B38}"/>
          </ac:spMkLst>
        </pc:spChg>
        <pc:picChg chg="add mod">
          <ac:chgData name="Rajesh Wilson" userId="0cc5316391adb53e" providerId="Windows Live" clId="Web-{B2164373-F387-4798-986F-ED4E331E50C8}" dt="2018-12-06T10:16:36.196" v="800" actId="1076"/>
          <ac:picMkLst>
            <pc:docMk/>
            <pc:sldMk cId="554969697" sldId="261"/>
            <ac:picMk id="4" creationId="{8B63FA65-F145-4AF3-9ED7-0655E3C9A9BA}"/>
          </ac:picMkLst>
        </pc:picChg>
        <pc:picChg chg="add del mod">
          <ac:chgData name="Rajesh Wilson" userId="0cc5316391adb53e" providerId="Windows Live" clId="Web-{B2164373-F387-4798-986F-ED4E331E50C8}" dt="2018-12-06T10:17:08.182" v="817"/>
          <ac:picMkLst>
            <pc:docMk/>
            <pc:sldMk cId="554969697" sldId="261"/>
            <ac:picMk id="6" creationId="{1FCE8B76-C32A-4E56-B01A-8D2D5629D5AC}"/>
          </ac:picMkLst>
        </pc:picChg>
      </pc:sldChg>
      <pc:sldChg chg="addSp modSp new">
        <pc:chgData name="Rajesh Wilson" userId="0cc5316391adb53e" providerId="Windows Live" clId="Web-{B2164373-F387-4798-986F-ED4E331E50C8}" dt="2018-12-06T10:32:10.062" v="1578" actId="20577"/>
        <pc:sldMkLst>
          <pc:docMk/>
          <pc:sldMk cId="2977230267" sldId="262"/>
        </pc:sldMkLst>
        <pc:spChg chg="mod">
          <ac:chgData name="Rajesh Wilson" userId="0cc5316391adb53e" providerId="Windows Live" clId="Web-{B2164373-F387-4798-986F-ED4E331E50C8}" dt="2018-12-06T10:20:21.830" v="1004" actId="20577"/>
          <ac:spMkLst>
            <pc:docMk/>
            <pc:sldMk cId="2977230267" sldId="262"/>
            <ac:spMk id="2" creationId="{62AFA819-11AE-4280-8481-0C3EE8AB9C4A}"/>
          </ac:spMkLst>
        </pc:spChg>
        <pc:spChg chg="mod">
          <ac:chgData name="Rajesh Wilson" userId="0cc5316391adb53e" providerId="Windows Live" clId="Web-{B2164373-F387-4798-986F-ED4E331E50C8}" dt="2018-12-06T10:32:10.062" v="1578" actId="20577"/>
          <ac:spMkLst>
            <pc:docMk/>
            <pc:sldMk cId="2977230267" sldId="262"/>
            <ac:spMk id="3" creationId="{694EF405-FD8E-445E-93CE-235F94E527D8}"/>
          </ac:spMkLst>
        </pc:spChg>
        <pc:picChg chg="add mod">
          <ac:chgData name="Rajesh Wilson" userId="0cc5316391adb53e" providerId="Windows Live" clId="Web-{B2164373-F387-4798-986F-ED4E331E50C8}" dt="2018-12-06T10:31:48.858" v="1562" actId="1076"/>
          <ac:picMkLst>
            <pc:docMk/>
            <pc:sldMk cId="2977230267" sldId="262"/>
            <ac:picMk id="4" creationId="{B0BEC411-3E94-49F7-87C2-2C4C87D834E1}"/>
          </ac:picMkLst>
        </pc:picChg>
      </pc:sldChg>
      <pc:sldChg chg="addSp modSp new">
        <pc:chgData name="Rajesh Wilson" userId="0cc5316391adb53e" providerId="Windows Live" clId="Web-{B2164373-F387-4798-986F-ED4E331E50C8}" dt="2018-12-06T10:44:59.499" v="2115" actId="14100"/>
        <pc:sldMkLst>
          <pc:docMk/>
          <pc:sldMk cId="2411863321" sldId="263"/>
        </pc:sldMkLst>
        <pc:spChg chg="mod">
          <ac:chgData name="Rajesh Wilson" userId="0cc5316391adb53e" providerId="Windows Live" clId="Web-{B2164373-F387-4798-986F-ED4E331E50C8}" dt="2018-12-06T10:24:42.294" v="1118" actId="20577"/>
          <ac:spMkLst>
            <pc:docMk/>
            <pc:sldMk cId="2411863321" sldId="263"/>
            <ac:spMk id="2" creationId="{3AC36C51-5A4F-4A81-85CE-79DBDA299909}"/>
          </ac:spMkLst>
        </pc:spChg>
        <pc:spChg chg="mod">
          <ac:chgData name="Rajesh Wilson" userId="0cc5316391adb53e" providerId="Windows Live" clId="Web-{B2164373-F387-4798-986F-ED4E331E50C8}" dt="2018-12-06T10:32:14.531" v="1580" actId="20577"/>
          <ac:spMkLst>
            <pc:docMk/>
            <pc:sldMk cId="2411863321" sldId="263"/>
            <ac:spMk id="3" creationId="{A15499DF-F48D-4751-92C0-250C41CA41D8}"/>
          </ac:spMkLst>
        </pc:spChg>
        <pc:picChg chg="add mod">
          <ac:chgData name="Rajesh Wilson" userId="0cc5316391adb53e" providerId="Windows Live" clId="Web-{B2164373-F387-4798-986F-ED4E331E50C8}" dt="2018-12-06T10:44:59.499" v="2115" actId="14100"/>
          <ac:picMkLst>
            <pc:docMk/>
            <pc:sldMk cId="2411863321" sldId="263"/>
            <ac:picMk id="4" creationId="{C2F88C75-DF26-4B11-9ACC-560D887CDA59}"/>
          </ac:picMkLst>
        </pc:picChg>
      </pc:sldChg>
      <pc:sldChg chg="addSp modSp new">
        <pc:chgData name="Rajesh Wilson" userId="0cc5316391adb53e" providerId="Windows Live" clId="Web-{B2164373-F387-4798-986F-ED4E331E50C8}" dt="2018-12-06T10:44:45.514" v="2113" actId="14100"/>
        <pc:sldMkLst>
          <pc:docMk/>
          <pc:sldMk cId="3623077799" sldId="264"/>
        </pc:sldMkLst>
        <pc:spChg chg="mod">
          <ac:chgData name="Rajesh Wilson" userId="0cc5316391adb53e" providerId="Windows Live" clId="Web-{B2164373-F387-4798-986F-ED4E331E50C8}" dt="2018-12-06T10:30:22.339" v="1456" actId="20577"/>
          <ac:spMkLst>
            <pc:docMk/>
            <pc:sldMk cId="3623077799" sldId="264"/>
            <ac:spMk id="2" creationId="{018E5A5E-AA57-45D1-A20E-DD918E607D22}"/>
          </ac:spMkLst>
        </pc:spChg>
        <pc:spChg chg="mod">
          <ac:chgData name="Rajesh Wilson" userId="0cc5316391adb53e" providerId="Windows Live" clId="Web-{B2164373-F387-4798-986F-ED4E331E50C8}" dt="2018-12-06T10:34:32.286" v="1671" actId="20577"/>
          <ac:spMkLst>
            <pc:docMk/>
            <pc:sldMk cId="3623077799" sldId="264"/>
            <ac:spMk id="3" creationId="{4417D7BE-5CF1-4329-9ACC-89A6A63C7E56}"/>
          </ac:spMkLst>
        </pc:spChg>
        <pc:picChg chg="add mod">
          <ac:chgData name="Rajesh Wilson" userId="0cc5316391adb53e" providerId="Windows Live" clId="Web-{B2164373-F387-4798-986F-ED4E331E50C8}" dt="2018-12-06T10:44:45.514" v="2113" actId="14100"/>
          <ac:picMkLst>
            <pc:docMk/>
            <pc:sldMk cId="3623077799" sldId="264"/>
            <ac:picMk id="4" creationId="{9A1626CC-8335-4593-90F6-698379784CD9}"/>
          </ac:picMkLst>
        </pc:picChg>
      </pc:sldChg>
      <pc:sldChg chg="addSp modSp new">
        <pc:chgData name="Rajesh Wilson" userId="0cc5316391adb53e" providerId="Windows Live" clId="Web-{B2164373-F387-4798-986F-ED4E331E50C8}" dt="2018-12-06T10:44:18.622" v="2109" actId="14100"/>
        <pc:sldMkLst>
          <pc:docMk/>
          <pc:sldMk cId="1920754735" sldId="265"/>
        </pc:sldMkLst>
        <pc:spChg chg="mod">
          <ac:chgData name="Rajesh Wilson" userId="0cc5316391adb53e" providerId="Windows Live" clId="Web-{B2164373-F387-4798-986F-ED4E331E50C8}" dt="2018-12-06T10:37:33.575" v="1792" actId="20577"/>
          <ac:spMkLst>
            <pc:docMk/>
            <pc:sldMk cId="1920754735" sldId="265"/>
            <ac:spMk id="2" creationId="{1F8F0211-72E3-4368-A243-3D02E683AFF4}"/>
          </ac:spMkLst>
        </pc:spChg>
        <pc:spChg chg="mod">
          <ac:chgData name="Rajesh Wilson" userId="0cc5316391adb53e" providerId="Windows Live" clId="Web-{B2164373-F387-4798-986F-ED4E331E50C8}" dt="2018-12-06T10:37:07.136" v="1782" actId="20577"/>
          <ac:spMkLst>
            <pc:docMk/>
            <pc:sldMk cId="1920754735" sldId="265"/>
            <ac:spMk id="3" creationId="{A26CC1B2-D9CB-434C-BF86-66F0748A720E}"/>
          </ac:spMkLst>
        </pc:spChg>
        <pc:picChg chg="add mod">
          <ac:chgData name="Rajesh Wilson" userId="0cc5316391adb53e" providerId="Windows Live" clId="Web-{B2164373-F387-4798-986F-ED4E331E50C8}" dt="2018-12-06T10:44:18.622" v="2109" actId="14100"/>
          <ac:picMkLst>
            <pc:docMk/>
            <pc:sldMk cId="1920754735" sldId="265"/>
            <ac:picMk id="4" creationId="{BBA54A4D-CAFC-44D1-9011-B1A7E2D3F711}"/>
          </ac:picMkLst>
        </pc:picChg>
      </pc:sldChg>
      <pc:sldChg chg="addSp modSp new">
        <pc:chgData name="Rajesh Wilson" userId="0cc5316391adb53e" providerId="Windows Live" clId="Web-{B2164373-F387-4798-986F-ED4E331E50C8}" dt="2018-12-06T10:45:09.812" v="2120" actId="20577"/>
        <pc:sldMkLst>
          <pc:docMk/>
          <pc:sldMk cId="857735192" sldId="266"/>
        </pc:sldMkLst>
        <pc:spChg chg="mod">
          <ac:chgData name="Rajesh Wilson" userId="0cc5316391adb53e" providerId="Windows Live" clId="Web-{B2164373-F387-4798-986F-ED4E331E50C8}" dt="2018-12-06T10:45:09.812" v="2120" actId="20577"/>
          <ac:spMkLst>
            <pc:docMk/>
            <pc:sldMk cId="857735192" sldId="266"/>
            <ac:spMk id="2" creationId="{3589C11B-1610-4BD2-B244-DE23FC8374B3}"/>
          </ac:spMkLst>
        </pc:spChg>
        <pc:spChg chg="mod">
          <ac:chgData name="Rajesh Wilson" userId="0cc5316391adb53e" providerId="Windows Live" clId="Web-{B2164373-F387-4798-986F-ED4E331E50C8}" dt="2018-12-06T10:43:00.057" v="2099" actId="20577"/>
          <ac:spMkLst>
            <pc:docMk/>
            <pc:sldMk cId="857735192" sldId="266"/>
            <ac:spMk id="3" creationId="{3F937414-E6F5-4117-86F6-F8C3EFEDD976}"/>
          </ac:spMkLst>
        </pc:spChg>
        <pc:picChg chg="add mod">
          <ac:chgData name="Rajesh Wilson" userId="0cc5316391adb53e" providerId="Windows Live" clId="Web-{B2164373-F387-4798-986F-ED4E331E50C8}" dt="2018-12-06T10:44:03.013" v="2107" actId="14100"/>
          <ac:picMkLst>
            <pc:docMk/>
            <pc:sldMk cId="857735192" sldId="266"/>
            <ac:picMk id="4" creationId="{35F6BBF0-04EE-4C34-93F4-EB0175CC32D0}"/>
          </ac:picMkLst>
        </pc:picChg>
      </pc:sldChg>
      <pc:sldChg chg="modSp new">
        <pc:chgData name="Rajesh Wilson" userId="0cc5316391adb53e" providerId="Windows Live" clId="Web-{B2164373-F387-4798-986F-ED4E331E50C8}" dt="2018-12-06T10:51:07.217" v="2600" actId="20577"/>
        <pc:sldMkLst>
          <pc:docMk/>
          <pc:sldMk cId="2105164174" sldId="267"/>
        </pc:sldMkLst>
        <pc:spChg chg="mod">
          <ac:chgData name="Rajesh Wilson" userId="0cc5316391adb53e" providerId="Windows Live" clId="Web-{B2164373-F387-4798-986F-ED4E331E50C8}" dt="2018-12-06T10:51:07.217" v="2600" actId="20577"/>
          <ac:spMkLst>
            <pc:docMk/>
            <pc:sldMk cId="2105164174" sldId="267"/>
            <ac:spMk id="2" creationId="{4C167D1A-9891-4CAC-A484-3C9DA0803B64}"/>
          </ac:spMkLst>
        </pc:spChg>
        <pc:spChg chg="mod">
          <ac:chgData name="Rajesh Wilson" userId="0cc5316391adb53e" providerId="Windows Live" clId="Web-{B2164373-F387-4798-986F-ED4E331E50C8}" dt="2018-12-06T10:51:04.092" v="2598" actId="20577"/>
          <ac:spMkLst>
            <pc:docMk/>
            <pc:sldMk cId="2105164174" sldId="267"/>
            <ac:spMk id="3" creationId="{819F7B1B-83FE-4DDE-B93A-2D02EE9C1073}"/>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12/6/2018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12/6/2018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12/6/2018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12/6/2018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12/6/2018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12/6/2018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12/6/2018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12/6/2018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12/6/2018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12/6/2018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12/6/2018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12/6/2018</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www.renthop.com"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www.brickunderground.com/blog/2014/07/address_report_safest_and_least_safe_neighborhoods"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hyperlink" Target="https://www.brickunderground.com/blog/2014/07/address_report_safest_and_least_safe_neighborhoods" TargetMode="External"/><Relationship Id="rId3" Type="http://schemas.openxmlformats.org/officeDocument/2006/relationships/hyperlink" Target="https://en.wikipedia.org/wiki/Immigration_to_the_United_States" TargetMode="External"/><Relationship Id="rId7" Type="http://schemas.openxmlformats.org/officeDocument/2006/relationships/hyperlink" Target="https://www.renthop.com/study/assets/new-york-city-cost-of-living-2017/nyc-2br-median-rent-and-income-table.html" TargetMode="External"/><Relationship Id="rId2" Type="http://schemas.openxmlformats.org/officeDocument/2006/relationships/hyperlink" Target="http://states" TargetMode="External"/><Relationship Id="rId1" Type="http://schemas.openxmlformats.org/officeDocument/2006/relationships/slideLayout" Target="../slideLayouts/slideLayout2.xml"/><Relationship Id="rId6" Type="http://schemas.openxmlformats.org/officeDocument/2006/relationships/hyperlink" Target="https://en.wikipedia.org/wiki/Indians_in_the_New_York_City_metropolitan_region" TargetMode="External"/><Relationship Id="rId5" Type="http://schemas.openxmlformats.org/officeDocument/2006/relationships/hyperlink" Target="http://insights/singular-population-indian-immigrants-america" TargetMode="External"/><Relationship Id="rId4" Type="http://schemas.openxmlformats.org/officeDocument/2006/relationships/hyperlink" Target="http://migration-to-the-us.pdf"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a:solidFill>
                  <a:schemeClr val="tx2"/>
                </a:solidFill>
                <a:cs typeface="Calibri Light"/>
              </a:rPr>
              <a:t>Battle of Neighborhoods</a:t>
            </a:r>
            <a:endParaRPr lang="en-US">
              <a:solidFill>
                <a:schemeClr val="tx2"/>
              </a:solidFill>
            </a:endParaRPr>
          </a:p>
        </p:txBody>
      </p:sp>
      <p:sp>
        <p:nvSpPr>
          <p:cNvPr id="3" name="Subtitle 2"/>
          <p:cNvSpPr>
            <a:spLocks noGrp="1"/>
          </p:cNvSpPr>
          <p:nvPr>
            <p:ph type="subTitle" idx="1"/>
          </p:nvPr>
        </p:nvSpPr>
        <p:spPr>
          <a:xfrm>
            <a:off x="2457450" y="3602038"/>
            <a:ext cx="7105650" cy="1655762"/>
          </a:xfrm>
        </p:spPr>
        <p:txBody>
          <a:bodyPr vert="horz" lIns="91440" tIns="45720" rIns="91440" bIns="45720" rtlCol="0" anchor="t">
            <a:normAutofit/>
          </a:bodyPr>
          <a:lstStyle/>
          <a:p>
            <a:r>
              <a:rPr lang="en-US" sz="1800">
                <a:solidFill>
                  <a:schemeClr val="tx2"/>
                </a:solidFill>
                <a:cs typeface="Calibri"/>
              </a:rPr>
              <a:t>A short presentation on the evaluation of best neighborhoods in </a:t>
            </a:r>
            <a:r>
              <a:rPr lang="en-US" sz="1800" dirty="0">
                <a:solidFill>
                  <a:schemeClr val="tx2"/>
                </a:solidFill>
                <a:cs typeface="Calibri"/>
              </a:rPr>
              <a:t>New York to migrate to, specific to the Indian community.</a:t>
            </a:r>
            <a:endParaRPr lang="en-US">
              <a:cs typeface="Calibri"/>
            </a:endParaRPr>
          </a:p>
        </p:txBody>
      </p:sp>
      <p:sp>
        <p:nvSpPr>
          <p:cNvPr id="4" name="TextBox 3">
            <a:extLst>
              <a:ext uri="{FF2B5EF4-FFF2-40B4-BE49-F238E27FC236}">
                <a16:creationId xmlns:a16="http://schemas.microsoft.com/office/drawing/2014/main" id="{413FA999-FDC7-45E4-9B3E-B71833FE809A}"/>
              </a:ext>
            </a:extLst>
          </p:cNvPr>
          <p:cNvSpPr txBox="1"/>
          <p:nvPr/>
        </p:nvSpPr>
        <p:spPr>
          <a:xfrm>
            <a:off x="9201150" y="5524500"/>
            <a:ext cx="2743200" cy="923330"/>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chemeClr val="tx2"/>
                </a:solidFill>
              </a:rPr>
              <a:t>By,</a:t>
            </a:r>
            <a:endParaRPr lang="en-US">
              <a:solidFill>
                <a:schemeClr val="tx2"/>
              </a:solidFill>
              <a:cs typeface="Calibri"/>
            </a:endParaRPr>
          </a:p>
          <a:p>
            <a:r>
              <a:rPr lang="en-US">
                <a:solidFill>
                  <a:schemeClr val="tx2"/>
                </a:solidFill>
              </a:rPr>
              <a:t>Rajesh Wilson</a:t>
            </a:r>
            <a:endParaRPr lang="en-US">
              <a:solidFill>
                <a:schemeClr val="tx2"/>
              </a:solidFill>
              <a:cs typeface="Calibri"/>
            </a:endParaRPr>
          </a:p>
          <a:p>
            <a:r>
              <a:rPr lang="en-US">
                <a:solidFill>
                  <a:schemeClr val="tx2"/>
                </a:solidFill>
                <a:cs typeface="Calibri"/>
              </a:rPr>
              <a:t>B.Tech Computer Science</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73FFE-EAF3-41D3-A29A-65C2C756879E}"/>
              </a:ext>
            </a:extLst>
          </p:cNvPr>
          <p:cNvSpPr>
            <a:spLocks noGrp="1"/>
          </p:cNvSpPr>
          <p:nvPr>
            <p:ph type="title"/>
          </p:nvPr>
        </p:nvSpPr>
        <p:spPr/>
        <p:txBody>
          <a:bodyPr/>
          <a:lstStyle/>
          <a:p>
            <a:r>
              <a:rPr lang="en-US" u="sng" dirty="0">
                <a:solidFill>
                  <a:schemeClr val="tx2"/>
                </a:solidFill>
                <a:cs typeface="Calibri Light"/>
              </a:rPr>
              <a:t>Background</a:t>
            </a:r>
          </a:p>
        </p:txBody>
      </p:sp>
      <p:sp>
        <p:nvSpPr>
          <p:cNvPr id="3" name="Content Placeholder 2">
            <a:extLst>
              <a:ext uri="{FF2B5EF4-FFF2-40B4-BE49-F238E27FC236}">
                <a16:creationId xmlns:a16="http://schemas.microsoft.com/office/drawing/2014/main" id="{6B3A00B0-F5AF-4009-BC71-4340C70F30AE}"/>
              </a:ext>
            </a:extLst>
          </p:cNvPr>
          <p:cNvSpPr>
            <a:spLocks noGrp="1"/>
          </p:cNvSpPr>
          <p:nvPr>
            <p:ph idx="1"/>
          </p:nvPr>
        </p:nvSpPr>
        <p:spPr/>
        <p:txBody>
          <a:bodyPr vert="horz" lIns="91440" tIns="45720" rIns="91440" bIns="45720" rtlCol="0" anchor="t">
            <a:noAutofit/>
          </a:bodyPr>
          <a:lstStyle/>
          <a:p>
            <a:r>
              <a:rPr lang="en-US" sz="2000" dirty="0">
                <a:cs typeface="Calibri"/>
              </a:rPr>
              <a:t>Every year around 60000 plus Indias migrate to the US.</a:t>
            </a:r>
          </a:p>
          <a:p>
            <a:r>
              <a:rPr lang="en-US" sz="2000" dirty="0">
                <a:cs typeface="Calibri"/>
              </a:rPr>
              <a:t>After Mexico and China, India was the third largest country of origin for new lawful permanent residents (LPRs) in FY 2015</a:t>
            </a:r>
            <a:endParaRPr lang="en-US" dirty="0"/>
          </a:p>
          <a:p>
            <a:r>
              <a:rPr lang="en-US" sz="2000" dirty="0">
                <a:cs typeface="Calibri"/>
              </a:rPr>
              <a:t>Indians are highly educated (72%) with bachelor’s degrees or above compared to other U.S. Asians (51%) and General U.S. population (30%)</a:t>
            </a:r>
          </a:p>
          <a:p>
            <a:r>
              <a:rPr lang="en-US" sz="2000" dirty="0">
                <a:cs typeface="Calibri"/>
              </a:rPr>
              <a:t>They have the highest median household income ($100k) among U.S. Asians ($73k) compared with general U.S. population ($53.6k)</a:t>
            </a:r>
          </a:p>
          <a:p>
            <a:pPr marL="0" indent="0">
              <a:buNone/>
            </a:pPr>
            <a:endParaRPr lang="en-US" sz="2000" dirty="0">
              <a:cs typeface="Calibri"/>
            </a:endParaRPr>
          </a:p>
          <a:p>
            <a:pPr marL="0" indent="0">
              <a:buNone/>
            </a:pPr>
            <a:r>
              <a:rPr lang="en-US" sz="2000" u="sng" dirty="0">
                <a:solidFill>
                  <a:schemeClr val="tx2"/>
                </a:solidFill>
                <a:cs typeface="Calibri"/>
              </a:rPr>
              <a:t>Reason for this influx:</a:t>
            </a:r>
          </a:p>
          <a:p>
            <a:r>
              <a:rPr lang="en-US" sz="2000" dirty="0">
                <a:cs typeface="Calibri"/>
              </a:rPr>
              <a:t>Economic prosperity</a:t>
            </a:r>
            <a:endParaRPr lang="en-US" sz="2000" u="sng" dirty="0">
              <a:cs typeface="Calibri"/>
            </a:endParaRPr>
          </a:p>
          <a:p>
            <a:r>
              <a:rPr lang="en-US" sz="2000" dirty="0">
                <a:cs typeface="Calibri"/>
              </a:rPr>
              <a:t>Educational facilities</a:t>
            </a:r>
          </a:p>
          <a:p>
            <a:r>
              <a:rPr lang="en-US" sz="2000" dirty="0">
                <a:cs typeface="Calibri"/>
              </a:rPr>
              <a:t>Quality of life</a:t>
            </a:r>
          </a:p>
          <a:p>
            <a:endParaRPr lang="en-US" sz="2000" dirty="0">
              <a:cs typeface="Calibri"/>
            </a:endParaRPr>
          </a:p>
          <a:p>
            <a:endParaRPr lang="en-US" sz="2000" dirty="0">
              <a:cs typeface="Calibri"/>
            </a:endParaRPr>
          </a:p>
        </p:txBody>
      </p:sp>
    </p:spTree>
    <p:extLst>
      <p:ext uri="{BB962C8B-B14F-4D97-AF65-F5344CB8AC3E}">
        <p14:creationId xmlns:p14="http://schemas.microsoft.com/office/powerpoint/2010/main" val="33578448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E75F3-C855-466D-BCDF-E9CF5D7AE4CE}"/>
              </a:ext>
            </a:extLst>
          </p:cNvPr>
          <p:cNvSpPr>
            <a:spLocks noGrp="1"/>
          </p:cNvSpPr>
          <p:nvPr>
            <p:ph type="title"/>
          </p:nvPr>
        </p:nvSpPr>
        <p:spPr>
          <a:xfrm>
            <a:off x="838200" y="641350"/>
            <a:ext cx="10515600" cy="1325563"/>
          </a:xfrm>
        </p:spPr>
        <p:txBody>
          <a:bodyPr/>
          <a:lstStyle/>
          <a:p>
            <a:r>
              <a:rPr lang="en-US" u="sng" dirty="0">
                <a:solidFill>
                  <a:schemeClr val="tx2"/>
                </a:solidFill>
                <a:cs typeface="Calibri Light"/>
              </a:rPr>
              <a:t>Problem at hand</a:t>
            </a:r>
            <a:endParaRPr lang="en-US" dirty="0">
              <a:solidFill>
                <a:schemeClr val="tx2"/>
              </a:solidFill>
              <a:cs typeface="Calibri Light"/>
            </a:endParaRPr>
          </a:p>
          <a:p>
            <a:endParaRPr lang="en-US" dirty="0">
              <a:cs typeface="Calibri Light"/>
            </a:endParaRPr>
          </a:p>
        </p:txBody>
      </p:sp>
      <p:sp>
        <p:nvSpPr>
          <p:cNvPr id="3" name="Content Placeholder 2">
            <a:extLst>
              <a:ext uri="{FF2B5EF4-FFF2-40B4-BE49-F238E27FC236}">
                <a16:creationId xmlns:a16="http://schemas.microsoft.com/office/drawing/2014/main" id="{B37B4904-3BA7-4DFB-955E-6C21A602CCD1}"/>
              </a:ext>
            </a:extLst>
          </p:cNvPr>
          <p:cNvSpPr>
            <a:spLocks noGrp="1"/>
          </p:cNvSpPr>
          <p:nvPr>
            <p:ph idx="1"/>
          </p:nvPr>
        </p:nvSpPr>
        <p:spPr/>
        <p:txBody>
          <a:bodyPr vert="horz" lIns="91440" tIns="45720" rIns="91440" bIns="45720" rtlCol="0" anchor="t">
            <a:normAutofit/>
          </a:bodyPr>
          <a:lstStyle/>
          <a:p>
            <a:r>
              <a:rPr lang="en-US" sz="2000" dirty="0">
                <a:cs typeface="Calibri"/>
              </a:rPr>
              <a:t>To address the conundrum of choosing a place to migrate, from the point of view of the Indian community, we shall at an example of New York for now.</a:t>
            </a:r>
          </a:p>
          <a:p>
            <a:r>
              <a:rPr lang="en-US" sz="2000" dirty="0">
                <a:cs typeface="Calibri"/>
              </a:rPr>
              <a:t>Some of the factors affecting the choice of place to migrate to:</a:t>
            </a:r>
          </a:p>
          <a:p>
            <a:pPr marL="342900" indent="-342900">
              <a:buAutoNum type="arabicPeriod"/>
            </a:pPr>
            <a:r>
              <a:rPr lang="en-US" sz="1600" dirty="0">
                <a:cs typeface="Calibri"/>
              </a:rPr>
              <a:t>Presence of a community of the same kind.</a:t>
            </a:r>
          </a:p>
          <a:p>
            <a:pPr marL="342900" indent="-342900">
              <a:buAutoNum type="arabicPeriod"/>
            </a:pPr>
            <a:r>
              <a:rPr lang="en-US" sz="1600" dirty="0">
                <a:cs typeface="Calibri"/>
              </a:rPr>
              <a:t>Real estate / Rental prices</a:t>
            </a:r>
          </a:p>
          <a:p>
            <a:pPr marL="342900" indent="-342900">
              <a:buAutoNum type="arabicPeriod"/>
            </a:pPr>
            <a:r>
              <a:rPr lang="en-US" sz="1600" dirty="0">
                <a:cs typeface="Calibri"/>
              </a:rPr>
              <a:t>Proximity to educational institutions</a:t>
            </a:r>
          </a:p>
          <a:p>
            <a:pPr marL="342900" indent="-342900">
              <a:buAutoNum type="arabicPeriod"/>
            </a:pPr>
            <a:r>
              <a:rPr lang="en-US" sz="1600" dirty="0">
                <a:cs typeface="Calibri"/>
              </a:rPr>
              <a:t>Hospitals and Clinics</a:t>
            </a:r>
          </a:p>
          <a:p>
            <a:pPr marL="342900" indent="-342900">
              <a:buAutoNum type="arabicPeriod"/>
            </a:pPr>
            <a:r>
              <a:rPr lang="en-US" sz="1600" dirty="0">
                <a:cs typeface="Calibri"/>
              </a:rPr>
              <a:t>Crime rate</a:t>
            </a:r>
          </a:p>
          <a:p>
            <a:pPr marL="342900" indent="-342900">
              <a:buAutoNum type="arabicPeriod"/>
            </a:pPr>
            <a:r>
              <a:rPr lang="en-US" sz="1600" dirty="0">
                <a:cs typeface="Calibri"/>
              </a:rPr>
              <a:t> Proximity to restaurants, grocery stores, entertainment zones, etc.</a:t>
            </a:r>
          </a:p>
          <a:p>
            <a:pPr marL="342900" indent="-342900"/>
            <a:r>
              <a:rPr lang="en-US" sz="2000" dirty="0">
                <a:cs typeface="Calibri"/>
              </a:rPr>
              <a:t>We shall be looking at a sub-set of these factors to determine the best neighborhoods in New York to migrate to.</a:t>
            </a:r>
          </a:p>
        </p:txBody>
      </p:sp>
    </p:spTree>
    <p:extLst>
      <p:ext uri="{BB962C8B-B14F-4D97-AF65-F5344CB8AC3E}">
        <p14:creationId xmlns:p14="http://schemas.microsoft.com/office/powerpoint/2010/main" val="27307318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485D28-9914-4FF0-A59E-23CC952B7419}"/>
              </a:ext>
            </a:extLst>
          </p:cNvPr>
          <p:cNvSpPr>
            <a:spLocks noGrp="1"/>
          </p:cNvSpPr>
          <p:nvPr>
            <p:ph type="title"/>
          </p:nvPr>
        </p:nvSpPr>
        <p:spPr/>
        <p:txBody>
          <a:bodyPr/>
          <a:lstStyle/>
          <a:p>
            <a:r>
              <a:rPr lang="en-US" u="sng" dirty="0">
                <a:solidFill>
                  <a:schemeClr val="tx2"/>
                </a:solidFill>
                <a:cs typeface="Calibri Light"/>
              </a:rPr>
              <a:t>Data used</a:t>
            </a:r>
          </a:p>
        </p:txBody>
      </p:sp>
      <p:sp>
        <p:nvSpPr>
          <p:cNvPr id="3" name="Content Placeholder 2">
            <a:extLst>
              <a:ext uri="{FF2B5EF4-FFF2-40B4-BE49-F238E27FC236}">
                <a16:creationId xmlns:a16="http://schemas.microsoft.com/office/drawing/2014/main" id="{93B86272-444B-44DB-934B-74E1008A7B38}"/>
              </a:ext>
            </a:extLst>
          </p:cNvPr>
          <p:cNvSpPr>
            <a:spLocks noGrp="1"/>
          </p:cNvSpPr>
          <p:nvPr>
            <p:ph idx="1"/>
          </p:nvPr>
        </p:nvSpPr>
        <p:spPr/>
        <p:txBody>
          <a:bodyPr vert="horz" lIns="91440" tIns="45720" rIns="91440" bIns="45720" rtlCol="0" anchor="t">
            <a:normAutofit/>
          </a:bodyPr>
          <a:lstStyle/>
          <a:p>
            <a:pPr marL="0" indent="0">
              <a:buNone/>
            </a:pPr>
            <a:r>
              <a:rPr lang="en-US" sz="2000" b="1" u="sng" dirty="0">
                <a:solidFill>
                  <a:schemeClr val="tx2"/>
                </a:solidFill>
                <a:cs typeface="Calibri"/>
              </a:rPr>
              <a:t>1. Population density of Indian-Americans in New York</a:t>
            </a:r>
          </a:p>
          <a:p>
            <a:pPr marL="0" indent="0">
              <a:buNone/>
            </a:pPr>
            <a:endParaRPr lang="en-US" dirty="0">
              <a:cs typeface="Calibri"/>
            </a:endParaRPr>
          </a:p>
          <a:p>
            <a:pPr marL="0" indent="0">
              <a:buNone/>
            </a:pPr>
            <a:endParaRPr lang="en-US" dirty="0">
              <a:cs typeface="Calibri"/>
            </a:endParaRPr>
          </a:p>
          <a:p>
            <a:pPr marL="0" indent="0">
              <a:buNone/>
            </a:pPr>
            <a:endParaRPr lang="en-US" dirty="0">
              <a:cs typeface="Calibri"/>
            </a:endParaRPr>
          </a:p>
          <a:p>
            <a:pPr marL="0" indent="0">
              <a:buNone/>
            </a:pPr>
            <a:endParaRPr lang="en-US" dirty="0">
              <a:cs typeface="Calibri"/>
            </a:endParaRPr>
          </a:p>
          <a:p>
            <a:pPr marL="0" indent="0">
              <a:buNone/>
            </a:pPr>
            <a:endParaRPr lang="en-US" dirty="0">
              <a:cs typeface="Calibri"/>
            </a:endParaRPr>
          </a:p>
          <a:p>
            <a:pPr marL="457200" indent="-457200"/>
            <a:r>
              <a:rPr lang="en-US" sz="2000" dirty="0">
                <a:cs typeface="Calibri"/>
              </a:rPr>
              <a:t>The above table was scraped from a Wikipedia page and Queens was selected for further evaluation since it had the highest density.</a:t>
            </a:r>
            <a:endParaRPr lang="en-US" dirty="0">
              <a:cs typeface="Calibri"/>
            </a:endParaRPr>
          </a:p>
          <a:p>
            <a:pPr marL="457200" indent="-457200"/>
            <a:r>
              <a:rPr lang="en-US" sz="2000" dirty="0">
                <a:cs typeface="Calibri"/>
              </a:rPr>
              <a:t>Only one borough was selected for the sake of simplicity.</a:t>
            </a:r>
          </a:p>
          <a:p>
            <a:pPr marL="0" indent="0">
              <a:buNone/>
            </a:pPr>
            <a:r>
              <a:rPr lang="en-US" sz="1600" dirty="0">
                <a:cs typeface="Calibri"/>
              </a:rPr>
              <a:t>Source: https://en.wikipedia.org/wiki/Indians_in_the_New_York_City_metropolitan_region</a:t>
            </a:r>
          </a:p>
          <a:p>
            <a:pPr marL="0" indent="0">
              <a:buNone/>
            </a:pPr>
            <a:endParaRPr lang="en-US" dirty="0">
              <a:cs typeface="Calibri"/>
            </a:endParaRPr>
          </a:p>
        </p:txBody>
      </p:sp>
      <p:pic>
        <p:nvPicPr>
          <p:cNvPr id="4" name="Picture 4" descr="A screenshot of a cell phone&#10;&#10;Description generated with very high confidence">
            <a:extLst>
              <a:ext uri="{FF2B5EF4-FFF2-40B4-BE49-F238E27FC236}">
                <a16:creationId xmlns:a16="http://schemas.microsoft.com/office/drawing/2014/main" id="{8B63FA65-F145-4AF3-9ED7-0655E3C9A9BA}"/>
              </a:ext>
            </a:extLst>
          </p:cNvPr>
          <p:cNvPicPr>
            <a:picLocks noChangeAspect="1"/>
          </p:cNvPicPr>
          <p:nvPr/>
        </p:nvPicPr>
        <p:blipFill>
          <a:blip r:embed="rId2"/>
          <a:stretch>
            <a:fillRect/>
          </a:stretch>
        </p:blipFill>
        <p:spPr>
          <a:xfrm>
            <a:off x="1290181" y="2444769"/>
            <a:ext cx="8828761" cy="2239858"/>
          </a:xfrm>
          <a:prstGeom prst="rect">
            <a:avLst/>
          </a:prstGeom>
        </p:spPr>
      </p:pic>
    </p:spTree>
    <p:extLst>
      <p:ext uri="{BB962C8B-B14F-4D97-AF65-F5344CB8AC3E}">
        <p14:creationId xmlns:p14="http://schemas.microsoft.com/office/powerpoint/2010/main" val="5549696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AFA819-11AE-4280-8481-0C3EE8AB9C4A}"/>
              </a:ext>
            </a:extLst>
          </p:cNvPr>
          <p:cNvSpPr>
            <a:spLocks noGrp="1"/>
          </p:cNvSpPr>
          <p:nvPr>
            <p:ph type="title"/>
          </p:nvPr>
        </p:nvSpPr>
        <p:spPr/>
        <p:txBody>
          <a:bodyPr/>
          <a:lstStyle/>
          <a:p>
            <a:r>
              <a:rPr lang="en-US" dirty="0">
                <a:cs typeface="Calibri Light"/>
              </a:rPr>
              <a:t>..</a:t>
            </a:r>
            <a:r>
              <a:rPr lang="en-US" u="sng" dirty="0">
                <a:solidFill>
                  <a:schemeClr val="tx2"/>
                </a:solidFill>
                <a:cs typeface="Calibri Light"/>
              </a:rPr>
              <a:t>Data used</a:t>
            </a:r>
            <a:endParaRPr lang="en-US" dirty="0">
              <a:solidFill>
                <a:schemeClr val="tx2"/>
              </a:solidFill>
            </a:endParaRPr>
          </a:p>
        </p:txBody>
      </p:sp>
      <p:sp>
        <p:nvSpPr>
          <p:cNvPr id="3" name="Content Placeholder 2">
            <a:extLst>
              <a:ext uri="{FF2B5EF4-FFF2-40B4-BE49-F238E27FC236}">
                <a16:creationId xmlns:a16="http://schemas.microsoft.com/office/drawing/2014/main" id="{694EF405-FD8E-445E-93CE-235F94E527D8}"/>
              </a:ext>
            </a:extLst>
          </p:cNvPr>
          <p:cNvSpPr>
            <a:spLocks noGrp="1"/>
          </p:cNvSpPr>
          <p:nvPr>
            <p:ph idx="1"/>
          </p:nvPr>
        </p:nvSpPr>
        <p:spPr/>
        <p:txBody>
          <a:bodyPr vert="horz" lIns="91440" tIns="45720" rIns="91440" bIns="45720" rtlCol="0" anchor="t">
            <a:normAutofit fontScale="92500" lnSpcReduction="10000"/>
          </a:bodyPr>
          <a:lstStyle/>
          <a:p>
            <a:pPr marL="0" indent="0">
              <a:buNone/>
            </a:pPr>
            <a:r>
              <a:rPr lang="en-US" sz="2000" b="1" u="sng" dirty="0">
                <a:solidFill>
                  <a:schemeClr val="tx2"/>
                </a:solidFill>
                <a:cs typeface="Calibri"/>
              </a:rPr>
              <a:t>2. Home rental rates</a:t>
            </a:r>
          </a:p>
          <a:p>
            <a:pPr marL="457200" indent="-457200"/>
            <a:endParaRPr lang="en-US" dirty="0">
              <a:cs typeface="Calibri"/>
            </a:endParaRPr>
          </a:p>
          <a:p>
            <a:pPr marL="0" indent="0">
              <a:buNone/>
            </a:pPr>
            <a:endParaRPr lang="en-US" dirty="0">
              <a:cs typeface="Calibri"/>
            </a:endParaRPr>
          </a:p>
          <a:p>
            <a:pPr marL="0" indent="0">
              <a:buNone/>
            </a:pPr>
            <a:endParaRPr lang="en-US" dirty="0">
              <a:cs typeface="Calibri"/>
            </a:endParaRPr>
          </a:p>
          <a:p>
            <a:pPr marL="0" indent="0">
              <a:buNone/>
            </a:pPr>
            <a:endParaRPr lang="en-US" dirty="0">
              <a:cs typeface="Calibri"/>
            </a:endParaRPr>
          </a:p>
          <a:p>
            <a:pPr marL="0" indent="0">
              <a:buNone/>
            </a:pPr>
            <a:endParaRPr lang="en-US" dirty="0">
              <a:cs typeface="Calibri"/>
            </a:endParaRPr>
          </a:p>
          <a:p>
            <a:pPr marL="0" indent="0">
              <a:buNone/>
            </a:pPr>
            <a:endParaRPr lang="en-US" dirty="0">
              <a:cs typeface="Calibri"/>
            </a:endParaRPr>
          </a:p>
          <a:p>
            <a:pPr marL="342900" indent="-342900"/>
            <a:r>
              <a:rPr lang="en-US" sz="2000" dirty="0">
                <a:cs typeface="Calibri"/>
              </a:rPr>
              <a:t>Median home rental rates were scraped from </a:t>
            </a:r>
            <a:r>
              <a:rPr lang="en-US" sz="2000" dirty="0">
                <a:cs typeface="Calibri"/>
                <a:hlinkClick r:id="rId2"/>
              </a:rPr>
              <a:t>www.renthop.com</a:t>
            </a:r>
            <a:r>
              <a:rPr lang="en-US" sz="2000" dirty="0">
                <a:cs typeface="Calibri"/>
              </a:rPr>
              <a:t> for Queens borough</a:t>
            </a:r>
          </a:p>
          <a:p>
            <a:pPr marL="342900" indent="-342900"/>
            <a:r>
              <a:rPr lang="en-US" sz="2000" dirty="0">
                <a:cs typeface="Calibri"/>
              </a:rPr>
              <a:t>The data was sorted and top 10 neighborhoods were selected for further evaluation.</a:t>
            </a:r>
          </a:p>
          <a:p>
            <a:pPr marL="342900" indent="-342900"/>
            <a:r>
              <a:rPr lang="en-US" sz="2000" dirty="0">
                <a:cs typeface="Calibri"/>
              </a:rPr>
              <a:t>Source: https://www.renthop.com/study/assets/new-york-city-cost-of-living-2017/nyc-2br-median-rent-and-income-table.html</a:t>
            </a:r>
          </a:p>
        </p:txBody>
      </p:sp>
      <p:pic>
        <p:nvPicPr>
          <p:cNvPr id="4" name="Picture 4" descr="A screenshot of a cell phone&#10;&#10;Description generated with very high confidence">
            <a:extLst>
              <a:ext uri="{FF2B5EF4-FFF2-40B4-BE49-F238E27FC236}">
                <a16:creationId xmlns:a16="http://schemas.microsoft.com/office/drawing/2014/main" id="{B0BEC411-3E94-49F7-87C2-2C4C87D834E1}"/>
              </a:ext>
            </a:extLst>
          </p:cNvPr>
          <p:cNvPicPr>
            <a:picLocks noChangeAspect="1"/>
          </p:cNvPicPr>
          <p:nvPr/>
        </p:nvPicPr>
        <p:blipFill>
          <a:blip r:embed="rId3"/>
          <a:stretch>
            <a:fillRect/>
          </a:stretch>
        </p:blipFill>
        <p:spPr>
          <a:xfrm>
            <a:off x="1085850" y="2243734"/>
            <a:ext cx="6896100" cy="2408633"/>
          </a:xfrm>
          <a:prstGeom prst="rect">
            <a:avLst/>
          </a:prstGeom>
        </p:spPr>
      </p:pic>
    </p:spTree>
    <p:extLst>
      <p:ext uri="{BB962C8B-B14F-4D97-AF65-F5344CB8AC3E}">
        <p14:creationId xmlns:p14="http://schemas.microsoft.com/office/powerpoint/2010/main" val="29772302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36C51-5A4F-4A81-85CE-79DBDA299909}"/>
              </a:ext>
            </a:extLst>
          </p:cNvPr>
          <p:cNvSpPr>
            <a:spLocks noGrp="1"/>
          </p:cNvSpPr>
          <p:nvPr>
            <p:ph type="title"/>
          </p:nvPr>
        </p:nvSpPr>
        <p:spPr/>
        <p:txBody>
          <a:bodyPr/>
          <a:lstStyle/>
          <a:p>
            <a:r>
              <a:rPr lang="en-US" dirty="0">
                <a:cs typeface="Calibri Light"/>
              </a:rPr>
              <a:t>..</a:t>
            </a:r>
            <a:r>
              <a:rPr lang="en-US" u="sng" dirty="0">
                <a:solidFill>
                  <a:schemeClr val="tx2"/>
                </a:solidFill>
                <a:cs typeface="Calibri Light"/>
              </a:rPr>
              <a:t>Data used</a:t>
            </a:r>
            <a:endParaRPr lang="en-US" dirty="0">
              <a:solidFill>
                <a:schemeClr val="tx2"/>
              </a:solidFill>
            </a:endParaRPr>
          </a:p>
        </p:txBody>
      </p:sp>
      <p:sp>
        <p:nvSpPr>
          <p:cNvPr id="3" name="Content Placeholder 2">
            <a:extLst>
              <a:ext uri="{FF2B5EF4-FFF2-40B4-BE49-F238E27FC236}">
                <a16:creationId xmlns:a16="http://schemas.microsoft.com/office/drawing/2014/main" id="{A15499DF-F48D-4751-92C0-250C41CA41D8}"/>
              </a:ext>
            </a:extLst>
          </p:cNvPr>
          <p:cNvSpPr>
            <a:spLocks noGrp="1"/>
          </p:cNvSpPr>
          <p:nvPr>
            <p:ph idx="1"/>
          </p:nvPr>
        </p:nvSpPr>
        <p:spPr/>
        <p:txBody>
          <a:bodyPr vert="horz" lIns="91440" tIns="45720" rIns="91440" bIns="45720" rtlCol="0" anchor="t">
            <a:normAutofit/>
          </a:bodyPr>
          <a:lstStyle/>
          <a:p>
            <a:pPr marL="0" indent="0">
              <a:buNone/>
            </a:pPr>
            <a:r>
              <a:rPr lang="en-US" sz="2000" b="1" u="sng" dirty="0">
                <a:solidFill>
                  <a:schemeClr val="tx2"/>
                </a:solidFill>
                <a:cs typeface="Calibri"/>
              </a:rPr>
              <a:t>3. Venues around Queens neighborhood</a:t>
            </a:r>
          </a:p>
          <a:p>
            <a:pPr marL="342900" indent="-342900"/>
            <a:r>
              <a:rPr lang="en-US" sz="2000" dirty="0">
                <a:cs typeface="Calibri"/>
              </a:rPr>
              <a:t>Foursquare </a:t>
            </a:r>
            <a:r>
              <a:rPr lang="en-US" sz="2000" dirty="0" err="1">
                <a:cs typeface="Calibri"/>
              </a:rPr>
              <a:t>api</a:t>
            </a:r>
            <a:r>
              <a:rPr lang="en-US" sz="2000" dirty="0">
                <a:cs typeface="Calibri"/>
              </a:rPr>
              <a:t> was used to explore the venues around the top 10 neighborhoods scraped from the previous data table.</a:t>
            </a:r>
          </a:p>
          <a:p>
            <a:pPr marL="342900" indent="-342900"/>
            <a:r>
              <a:rPr lang="en-US" sz="2000" dirty="0">
                <a:cs typeface="Calibri"/>
              </a:rPr>
              <a:t>Due to the limited potential of Foursquare only the count of category of venues was considered for evaluation. Higher the number of venue categories, better the location.</a:t>
            </a:r>
          </a:p>
          <a:p>
            <a:pPr marL="342900" indent="-342900"/>
            <a:endParaRPr lang="en-US" sz="2000" dirty="0">
              <a:cs typeface="Calibri"/>
            </a:endParaRPr>
          </a:p>
        </p:txBody>
      </p:sp>
      <p:pic>
        <p:nvPicPr>
          <p:cNvPr id="4" name="Picture 4" descr="A screenshot of a cell phone&#10;&#10;Description generated with very high confidence">
            <a:extLst>
              <a:ext uri="{FF2B5EF4-FFF2-40B4-BE49-F238E27FC236}">
                <a16:creationId xmlns:a16="http://schemas.microsoft.com/office/drawing/2014/main" id="{C2F88C75-DF26-4B11-9ACC-560D887CDA59}"/>
              </a:ext>
            </a:extLst>
          </p:cNvPr>
          <p:cNvPicPr>
            <a:picLocks noChangeAspect="1"/>
          </p:cNvPicPr>
          <p:nvPr/>
        </p:nvPicPr>
        <p:blipFill>
          <a:blip r:embed="rId2"/>
          <a:stretch>
            <a:fillRect/>
          </a:stretch>
        </p:blipFill>
        <p:spPr>
          <a:xfrm>
            <a:off x="1295400" y="3673475"/>
            <a:ext cx="3657600" cy="2968625"/>
          </a:xfrm>
          <a:prstGeom prst="rect">
            <a:avLst/>
          </a:prstGeom>
        </p:spPr>
      </p:pic>
    </p:spTree>
    <p:extLst>
      <p:ext uri="{BB962C8B-B14F-4D97-AF65-F5344CB8AC3E}">
        <p14:creationId xmlns:p14="http://schemas.microsoft.com/office/powerpoint/2010/main" val="24118633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8E5A5E-AA57-45D1-A20E-DD918E607D22}"/>
              </a:ext>
            </a:extLst>
          </p:cNvPr>
          <p:cNvSpPr>
            <a:spLocks noGrp="1"/>
          </p:cNvSpPr>
          <p:nvPr>
            <p:ph type="title"/>
          </p:nvPr>
        </p:nvSpPr>
        <p:spPr/>
        <p:txBody>
          <a:bodyPr/>
          <a:lstStyle/>
          <a:p>
            <a:r>
              <a:rPr lang="en-US" dirty="0">
                <a:cs typeface="Calibri Light"/>
              </a:rPr>
              <a:t>..</a:t>
            </a:r>
            <a:r>
              <a:rPr lang="en-US" u="sng" dirty="0">
                <a:solidFill>
                  <a:schemeClr val="tx2"/>
                </a:solidFill>
                <a:cs typeface="Calibri Light"/>
              </a:rPr>
              <a:t>Data used</a:t>
            </a:r>
            <a:endParaRPr lang="en-US" dirty="0">
              <a:solidFill>
                <a:schemeClr val="tx2"/>
              </a:solidFill>
            </a:endParaRPr>
          </a:p>
        </p:txBody>
      </p:sp>
      <p:sp>
        <p:nvSpPr>
          <p:cNvPr id="3" name="Content Placeholder 2">
            <a:extLst>
              <a:ext uri="{FF2B5EF4-FFF2-40B4-BE49-F238E27FC236}">
                <a16:creationId xmlns:a16="http://schemas.microsoft.com/office/drawing/2014/main" id="{4417D7BE-5CF1-4329-9ACC-89A6A63C7E56}"/>
              </a:ext>
            </a:extLst>
          </p:cNvPr>
          <p:cNvSpPr>
            <a:spLocks noGrp="1"/>
          </p:cNvSpPr>
          <p:nvPr>
            <p:ph idx="1"/>
          </p:nvPr>
        </p:nvSpPr>
        <p:spPr/>
        <p:txBody>
          <a:bodyPr vert="horz" lIns="91440" tIns="45720" rIns="91440" bIns="45720" rtlCol="0" anchor="t">
            <a:normAutofit/>
          </a:bodyPr>
          <a:lstStyle/>
          <a:p>
            <a:pPr marL="0" indent="0">
              <a:buNone/>
            </a:pPr>
            <a:r>
              <a:rPr lang="en-US" sz="2000" b="1" u="sng" dirty="0">
                <a:solidFill>
                  <a:schemeClr val="tx2"/>
                </a:solidFill>
                <a:cs typeface="Calibri"/>
              </a:rPr>
              <a:t>4. Crime rate</a:t>
            </a:r>
          </a:p>
          <a:p>
            <a:pPr marL="342900" indent="-342900"/>
            <a:r>
              <a:rPr lang="en-US" sz="2000" dirty="0">
                <a:cs typeface="Calibri"/>
              </a:rPr>
              <a:t>Crime data with respect to Queens neighborhoods was scraped from the following source:</a:t>
            </a:r>
          </a:p>
          <a:p>
            <a:pPr>
              <a:buNone/>
            </a:pPr>
            <a:r>
              <a:rPr lang="en-US" sz="1600" dirty="0">
                <a:cs typeface="Calibri"/>
                <a:hlinkClick r:id="rId2"/>
              </a:rPr>
              <a:t>https://www.brickunderground.com/blog/2014/07/address_report_safest_and_least_safe_neighborhoods</a:t>
            </a:r>
            <a:endParaRPr lang="en-US" sz="2400" dirty="0">
              <a:cs typeface="Calibri"/>
            </a:endParaRPr>
          </a:p>
          <a:p>
            <a:pPr marL="342900" indent="-342900"/>
            <a:r>
              <a:rPr lang="en-US" sz="2000" dirty="0">
                <a:cs typeface="Calibri"/>
              </a:rPr>
              <a:t>Since the data available was limited, top 5 neighborhoods were chosen for the final evaluation.</a:t>
            </a:r>
          </a:p>
          <a:p>
            <a:pPr marL="342900" indent="-342900"/>
            <a:endParaRPr lang="en-US" sz="2000" dirty="0">
              <a:cs typeface="Calibri"/>
            </a:endParaRPr>
          </a:p>
        </p:txBody>
      </p:sp>
      <p:pic>
        <p:nvPicPr>
          <p:cNvPr id="4" name="Picture 4" descr="A screenshot of a cell phone&#10;&#10;Description generated with very high confidence">
            <a:extLst>
              <a:ext uri="{FF2B5EF4-FFF2-40B4-BE49-F238E27FC236}">
                <a16:creationId xmlns:a16="http://schemas.microsoft.com/office/drawing/2014/main" id="{9A1626CC-8335-4593-90F6-698379784CD9}"/>
              </a:ext>
            </a:extLst>
          </p:cNvPr>
          <p:cNvPicPr>
            <a:picLocks noChangeAspect="1"/>
          </p:cNvPicPr>
          <p:nvPr/>
        </p:nvPicPr>
        <p:blipFill>
          <a:blip r:embed="rId3"/>
          <a:stretch>
            <a:fillRect/>
          </a:stretch>
        </p:blipFill>
        <p:spPr>
          <a:xfrm>
            <a:off x="1295400" y="3428000"/>
            <a:ext cx="4591050" cy="3126199"/>
          </a:xfrm>
          <a:prstGeom prst="rect">
            <a:avLst/>
          </a:prstGeom>
        </p:spPr>
      </p:pic>
    </p:spTree>
    <p:extLst>
      <p:ext uri="{BB962C8B-B14F-4D97-AF65-F5344CB8AC3E}">
        <p14:creationId xmlns:p14="http://schemas.microsoft.com/office/powerpoint/2010/main" val="36230777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8F0211-72E3-4368-A243-3D02E683AFF4}"/>
              </a:ext>
            </a:extLst>
          </p:cNvPr>
          <p:cNvSpPr>
            <a:spLocks noGrp="1"/>
          </p:cNvSpPr>
          <p:nvPr>
            <p:ph type="title"/>
          </p:nvPr>
        </p:nvSpPr>
        <p:spPr/>
        <p:txBody>
          <a:bodyPr/>
          <a:lstStyle/>
          <a:p>
            <a:r>
              <a:rPr lang="en-US" u="sng" dirty="0">
                <a:solidFill>
                  <a:schemeClr val="tx2"/>
                </a:solidFill>
                <a:cs typeface="Calibri Light"/>
              </a:rPr>
              <a:t>Data Merge</a:t>
            </a:r>
          </a:p>
        </p:txBody>
      </p:sp>
      <p:sp>
        <p:nvSpPr>
          <p:cNvPr id="3" name="Content Placeholder 2">
            <a:extLst>
              <a:ext uri="{FF2B5EF4-FFF2-40B4-BE49-F238E27FC236}">
                <a16:creationId xmlns:a16="http://schemas.microsoft.com/office/drawing/2014/main" id="{A26CC1B2-D9CB-434C-BF86-66F0748A720E}"/>
              </a:ext>
            </a:extLst>
          </p:cNvPr>
          <p:cNvSpPr>
            <a:spLocks noGrp="1"/>
          </p:cNvSpPr>
          <p:nvPr>
            <p:ph idx="1"/>
          </p:nvPr>
        </p:nvSpPr>
        <p:spPr/>
        <p:txBody>
          <a:bodyPr vert="horz" lIns="91440" tIns="45720" rIns="91440" bIns="45720" rtlCol="0" anchor="t">
            <a:normAutofit/>
          </a:bodyPr>
          <a:lstStyle/>
          <a:p>
            <a:r>
              <a:rPr lang="en-US" sz="2000" dirty="0">
                <a:cs typeface="Calibri"/>
              </a:rPr>
              <a:t>Finally, all relevant data was merged to form a single data-frame depicting rental rates, crime rate, and venue category counts of the top 5 neighborhoods in Queens</a:t>
            </a:r>
          </a:p>
          <a:p>
            <a:endParaRPr lang="en-US" sz="2000" dirty="0">
              <a:cs typeface="Calibri"/>
            </a:endParaRPr>
          </a:p>
        </p:txBody>
      </p:sp>
      <p:pic>
        <p:nvPicPr>
          <p:cNvPr id="4" name="Picture 4" descr="A screenshot of a cell phone&#10;&#10;Description generated with very high confidence">
            <a:extLst>
              <a:ext uri="{FF2B5EF4-FFF2-40B4-BE49-F238E27FC236}">
                <a16:creationId xmlns:a16="http://schemas.microsoft.com/office/drawing/2014/main" id="{BBA54A4D-CAFC-44D1-9011-B1A7E2D3F711}"/>
              </a:ext>
            </a:extLst>
          </p:cNvPr>
          <p:cNvPicPr>
            <a:picLocks noChangeAspect="1"/>
          </p:cNvPicPr>
          <p:nvPr/>
        </p:nvPicPr>
        <p:blipFill>
          <a:blip r:embed="rId2"/>
          <a:stretch>
            <a:fillRect/>
          </a:stretch>
        </p:blipFill>
        <p:spPr>
          <a:xfrm>
            <a:off x="1189712" y="2788717"/>
            <a:ext cx="10274473" cy="2285781"/>
          </a:xfrm>
          <a:prstGeom prst="rect">
            <a:avLst/>
          </a:prstGeom>
        </p:spPr>
      </p:pic>
    </p:spTree>
    <p:extLst>
      <p:ext uri="{BB962C8B-B14F-4D97-AF65-F5344CB8AC3E}">
        <p14:creationId xmlns:p14="http://schemas.microsoft.com/office/powerpoint/2010/main" val="19207547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89C11B-1610-4BD2-B244-DE23FC8374B3}"/>
              </a:ext>
            </a:extLst>
          </p:cNvPr>
          <p:cNvSpPr>
            <a:spLocks noGrp="1"/>
          </p:cNvSpPr>
          <p:nvPr>
            <p:ph type="title"/>
          </p:nvPr>
        </p:nvSpPr>
        <p:spPr/>
        <p:txBody>
          <a:bodyPr/>
          <a:lstStyle/>
          <a:p>
            <a:r>
              <a:rPr lang="en-US" u="sng" dirty="0">
                <a:solidFill>
                  <a:schemeClr val="tx2"/>
                </a:solidFill>
                <a:cs typeface="Calibri Light"/>
              </a:rPr>
              <a:t>Scoring and Sorting</a:t>
            </a:r>
          </a:p>
        </p:txBody>
      </p:sp>
      <p:sp>
        <p:nvSpPr>
          <p:cNvPr id="3" name="Content Placeholder 2">
            <a:extLst>
              <a:ext uri="{FF2B5EF4-FFF2-40B4-BE49-F238E27FC236}">
                <a16:creationId xmlns:a16="http://schemas.microsoft.com/office/drawing/2014/main" id="{3F937414-E6F5-4117-86F6-F8C3EFEDD976}"/>
              </a:ext>
            </a:extLst>
          </p:cNvPr>
          <p:cNvSpPr>
            <a:spLocks noGrp="1"/>
          </p:cNvSpPr>
          <p:nvPr>
            <p:ph idx="1"/>
          </p:nvPr>
        </p:nvSpPr>
        <p:spPr/>
        <p:txBody>
          <a:bodyPr vert="horz" lIns="91440" tIns="45720" rIns="91440" bIns="45720" rtlCol="0" anchor="t">
            <a:normAutofit/>
          </a:bodyPr>
          <a:lstStyle/>
          <a:p>
            <a:r>
              <a:rPr lang="en-US" sz="2000" dirty="0">
                <a:cs typeface="Calibri"/>
              </a:rPr>
              <a:t>The </a:t>
            </a:r>
            <a:r>
              <a:rPr lang="en-US" sz="2000" dirty="0" err="1">
                <a:cs typeface="Calibri"/>
              </a:rPr>
              <a:t>MinMaxScaler</a:t>
            </a:r>
            <a:r>
              <a:rPr lang="en-US" sz="2000" dirty="0">
                <a:cs typeface="Calibri"/>
              </a:rPr>
              <a:t> from </a:t>
            </a:r>
            <a:r>
              <a:rPr lang="en-US" sz="2000" dirty="0" err="1">
                <a:cs typeface="Calibri"/>
              </a:rPr>
              <a:t>sklearn.preprocessing</a:t>
            </a:r>
            <a:r>
              <a:rPr lang="en-US" sz="2000" dirty="0">
                <a:cs typeface="Calibri"/>
              </a:rPr>
              <a:t> was used to normalize the values of rental rates, crime rate and venue categories.</a:t>
            </a:r>
          </a:p>
          <a:p>
            <a:r>
              <a:rPr lang="en-US" sz="2000" dirty="0">
                <a:cs typeface="Calibri"/>
              </a:rPr>
              <a:t>Normalized values of rental rates and crime rate had to be deducted from 1 to represent the true score, since lower crime rate/rent rate should hold higher score.</a:t>
            </a:r>
          </a:p>
          <a:p>
            <a:r>
              <a:rPr lang="en-US" sz="2000" dirty="0">
                <a:cs typeface="Calibri"/>
              </a:rPr>
              <a:t>Finally, all individual values were added to arrive at final score, which was sorted to display the top 5 neighborhoods.</a:t>
            </a:r>
          </a:p>
          <a:p>
            <a:endParaRPr lang="en-US" sz="2000" dirty="0">
              <a:cs typeface="Calibri"/>
            </a:endParaRPr>
          </a:p>
        </p:txBody>
      </p:sp>
      <p:pic>
        <p:nvPicPr>
          <p:cNvPr id="4" name="Picture 4" descr="A screenshot of a cell phone&#10;&#10;Description generated with very high confidence">
            <a:extLst>
              <a:ext uri="{FF2B5EF4-FFF2-40B4-BE49-F238E27FC236}">
                <a16:creationId xmlns:a16="http://schemas.microsoft.com/office/drawing/2014/main" id="{35F6BBF0-04EE-4C34-93F4-EB0175CC32D0}"/>
              </a:ext>
            </a:extLst>
          </p:cNvPr>
          <p:cNvPicPr>
            <a:picLocks noChangeAspect="1"/>
          </p:cNvPicPr>
          <p:nvPr/>
        </p:nvPicPr>
        <p:blipFill>
          <a:blip r:embed="rId2"/>
          <a:stretch>
            <a:fillRect/>
          </a:stretch>
        </p:blipFill>
        <p:spPr>
          <a:xfrm>
            <a:off x="1162050" y="3835289"/>
            <a:ext cx="10153650" cy="2121121"/>
          </a:xfrm>
          <a:prstGeom prst="rect">
            <a:avLst/>
          </a:prstGeom>
        </p:spPr>
      </p:pic>
    </p:spTree>
    <p:extLst>
      <p:ext uri="{BB962C8B-B14F-4D97-AF65-F5344CB8AC3E}">
        <p14:creationId xmlns:p14="http://schemas.microsoft.com/office/powerpoint/2010/main" val="8577351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167D1A-9891-4CAC-A484-3C9DA0803B64}"/>
              </a:ext>
            </a:extLst>
          </p:cNvPr>
          <p:cNvSpPr>
            <a:spLocks noGrp="1"/>
          </p:cNvSpPr>
          <p:nvPr>
            <p:ph type="title"/>
          </p:nvPr>
        </p:nvSpPr>
        <p:spPr/>
        <p:txBody>
          <a:bodyPr/>
          <a:lstStyle/>
          <a:p>
            <a:r>
              <a:rPr lang="en-US" u="sng" dirty="0">
                <a:solidFill>
                  <a:schemeClr val="tx2"/>
                </a:solidFill>
                <a:cs typeface="Calibri Light"/>
              </a:rPr>
              <a:t>Conclusion</a:t>
            </a:r>
          </a:p>
        </p:txBody>
      </p:sp>
      <p:sp>
        <p:nvSpPr>
          <p:cNvPr id="3" name="Content Placeholder 2">
            <a:extLst>
              <a:ext uri="{FF2B5EF4-FFF2-40B4-BE49-F238E27FC236}">
                <a16:creationId xmlns:a16="http://schemas.microsoft.com/office/drawing/2014/main" id="{819F7B1B-83FE-4DDE-B93A-2D02EE9C1073}"/>
              </a:ext>
            </a:extLst>
          </p:cNvPr>
          <p:cNvSpPr>
            <a:spLocks noGrp="1"/>
          </p:cNvSpPr>
          <p:nvPr>
            <p:ph idx="1"/>
          </p:nvPr>
        </p:nvSpPr>
        <p:spPr/>
        <p:txBody>
          <a:bodyPr vert="horz" lIns="91440" tIns="45720" rIns="91440" bIns="45720" rtlCol="0" anchor="t">
            <a:normAutofit/>
          </a:bodyPr>
          <a:lstStyle/>
          <a:p>
            <a:r>
              <a:rPr lang="en-US" sz="2000" dirty="0">
                <a:cs typeface="Calibri"/>
              </a:rPr>
              <a:t>From the final score it can be implied that </a:t>
            </a:r>
            <a:r>
              <a:rPr lang="en-US" sz="2000" dirty="0" err="1">
                <a:cs typeface="Calibri"/>
              </a:rPr>
              <a:t>Pomonok</a:t>
            </a:r>
            <a:r>
              <a:rPr lang="en-US" sz="2000" dirty="0">
                <a:cs typeface="Calibri"/>
              </a:rPr>
              <a:t> can be considered a good place to migrate since it has the right blend of lower crime and rental rates and popular for the venues around it.</a:t>
            </a:r>
          </a:p>
          <a:p>
            <a:r>
              <a:rPr lang="en-US" sz="2000" dirty="0">
                <a:cs typeface="Calibri"/>
              </a:rPr>
              <a:t>This was a very crude method to evaluate the criteria to move to a place based on very limited factors.</a:t>
            </a:r>
          </a:p>
          <a:p>
            <a:r>
              <a:rPr lang="en-US" sz="2000" dirty="0">
                <a:cs typeface="Calibri"/>
              </a:rPr>
              <a:t>The factors could not be expanded due to the limited potential of Foursquare API to correctly identify venues that could potentially affect ones choice of place, like proximity to Hospitals, Schools, Libraries, etc., with far more advanced way of </a:t>
            </a:r>
            <a:r>
              <a:rPr lang="en-US" sz="2000" dirty="0" err="1">
                <a:cs typeface="Calibri"/>
              </a:rPr>
              <a:t>scoringand</a:t>
            </a:r>
            <a:r>
              <a:rPr lang="en-US" sz="2000" dirty="0">
                <a:cs typeface="Calibri"/>
              </a:rPr>
              <a:t>  ranking places based on these factors.</a:t>
            </a:r>
          </a:p>
        </p:txBody>
      </p:sp>
    </p:spTree>
    <p:extLst>
      <p:ext uri="{BB962C8B-B14F-4D97-AF65-F5344CB8AC3E}">
        <p14:creationId xmlns:p14="http://schemas.microsoft.com/office/powerpoint/2010/main" val="21051641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AE8A54-60F1-4707-8B42-C8D051D3A89D}"/>
              </a:ext>
            </a:extLst>
          </p:cNvPr>
          <p:cNvSpPr>
            <a:spLocks noGrp="1"/>
          </p:cNvSpPr>
          <p:nvPr>
            <p:ph type="title"/>
          </p:nvPr>
        </p:nvSpPr>
        <p:spPr/>
        <p:txBody>
          <a:bodyPr/>
          <a:lstStyle/>
          <a:p>
            <a:r>
              <a:rPr lang="en-US" dirty="0">
                <a:cs typeface="Calibri Light"/>
              </a:rPr>
              <a:t>Sources</a:t>
            </a:r>
            <a:endParaRPr lang="en-US" dirty="0"/>
          </a:p>
        </p:txBody>
      </p:sp>
      <p:sp>
        <p:nvSpPr>
          <p:cNvPr id="3" name="Content Placeholder 2">
            <a:extLst>
              <a:ext uri="{FF2B5EF4-FFF2-40B4-BE49-F238E27FC236}">
                <a16:creationId xmlns:a16="http://schemas.microsoft.com/office/drawing/2014/main" id="{B3D15118-895B-43E1-9489-366D7CEF5611}"/>
              </a:ext>
            </a:extLst>
          </p:cNvPr>
          <p:cNvSpPr>
            <a:spLocks noGrp="1"/>
          </p:cNvSpPr>
          <p:nvPr>
            <p:ph idx="1"/>
          </p:nvPr>
        </p:nvSpPr>
        <p:spPr/>
        <p:txBody>
          <a:bodyPr vert="horz" lIns="91440" tIns="45720" rIns="91440" bIns="45720" rtlCol="0" anchor="t">
            <a:normAutofit/>
          </a:bodyPr>
          <a:lstStyle/>
          <a:p>
            <a:r>
              <a:rPr lang="en-US" sz="1600" dirty="0">
                <a:cs typeface="Calibri"/>
                <a:hlinkClick r:id="rId2"/>
              </a:rPr>
              <a:t>https://www.migrationpolicy.org/article/indian-immigrants-united-states</a:t>
            </a:r>
            <a:endParaRPr lang="en-US" sz="1600" dirty="0">
              <a:cs typeface="Calibri"/>
            </a:endParaRPr>
          </a:p>
          <a:p>
            <a:r>
              <a:rPr lang="en-US" sz="1600" dirty="0">
                <a:cs typeface="Calibri"/>
                <a:hlinkClick r:id="rId3"/>
              </a:rPr>
              <a:t>https://en.wikipedia.org/wiki/Immigration_to_the_United_States</a:t>
            </a:r>
            <a:endParaRPr lang="en-US" sz="1600">
              <a:cs typeface="Calibri"/>
            </a:endParaRPr>
          </a:p>
          <a:p>
            <a:r>
              <a:rPr lang="en-US" sz="1600" dirty="0">
                <a:cs typeface="Calibri"/>
                <a:hlinkClick r:id="rId4"/>
              </a:rPr>
              <a:t>https://www.brookings.edu/wp-content/uploads/2018/01/indian-migration-to-the-us.pdf</a:t>
            </a:r>
            <a:endParaRPr lang="en-US" sz="1600">
              <a:cs typeface="Calibri"/>
            </a:endParaRPr>
          </a:p>
          <a:p>
            <a:r>
              <a:rPr lang="en-US" sz="1600" dirty="0">
                <a:cs typeface="Calibri"/>
                <a:hlinkClick r:id="rId5"/>
              </a:rPr>
              <a:t>https://www8.gsb.columbia.edu/articles/chazen-global-insights/singular-population-indian-immigrants-america</a:t>
            </a:r>
            <a:endParaRPr lang="en-US" sz="1600">
              <a:cs typeface="Calibri"/>
            </a:endParaRPr>
          </a:p>
          <a:p>
            <a:r>
              <a:rPr lang="en-US" sz="1600" dirty="0">
                <a:cs typeface="Calibri"/>
                <a:hlinkClick r:id="rId6"/>
              </a:rPr>
              <a:t>https://en.wikipedia.org/wiki/Indians_in_the_New_York_City_metropolitan_region</a:t>
            </a:r>
          </a:p>
          <a:p>
            <a:r>
              <a:rPr lang="en-US" sz="1600" dirty="0">
                <a:cs typeface="Calibri"/>
                <a:hlinkClick r:id="rId7"/>
              </a:rPr>
              <a:t>https://www.renthop.com/study/assets/new-york-city-cost-of-living-2017/nyc-2br-median-rent-and-income-table.html</a:t>
            </a:r>
            <a:endParaRPr lang="en-US" sz="1600">
              <a:cs typeface="Calibri"/>
            </a:endParaRPr>
          </a:p>
          <a:p>
            <a:r>
              <a:rPr lang="en-US" sz="1600" dirty="0">
                <a:cs typeface="Calibri"/>
                <a:hlinkClick r:id="rId8"/>
              </a:rPr>
              <a:t>https://www.brickunderground.com/blog/2014/07/address_report_safest_and_least_safe_neighborhoods</a:t>
            </a:r>
            <a:endParaRPr lang="en-US" sz="1600" dirty="0">
              <a:cs typeface="Calibri"/>
            </a:endParaRPr>
          </a:p>
          <a:p>
            <a:endParaRPr lang="en-US" sz="1600" dirty="0">
              <a:cs typeface="Calibri"/>
            </a:endParaRPr>
          </a:p>
          <a:p>
            <a:endParaRPr lang="en-US" sz="1600" dirty="0">
              <a:cs typeface="Calibri"/>
            </a:endParaRPr>
          </a:p>
          <a:p>
            <a:endParaRPr lang="en-US" sz="1600" dirty="0">
              <a:cs typeface="Calibri"/>
            </a:endParaRPr>
          </a:p>
        </p:txBody>
      </p:sp>
    </p:spTree>
    <p:extLst>
      <p:ext uri="{BB962C8B-B14F-4D97-AF65-F5344CB8AC3E}">
        <p14:creationId xmlns:p14="http://schemas.microsoft.com/office/powerpoint/2010/main" val="255420292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11</Slides>
  <Notes>0</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office theme</vt:lpstr>
      <vt:lpstr>Battle of Neighborhoods</vt:lpstr>
      <vt:lpstr>Background</vt:lpstr>
      <vt:lpstr>Problem at hand </vt:lpstr>
      <vt:lpstr>Data used</vt:lpstr>
      <vt:lpstr>..Data used</vt:lpstr>
      <vt:lpstr>..Data used</vt:lpstr>
      <vt:lpstr>..Data used</vt:lpstr>
      <vt:lpstr>Data Merge</vt:lpstr>
      <vt:lpstr>Scoring and Sorting</vt:lpstr>
      <vt:lpstr>Conclusion</vt:lpstr>
      <vt:lpstr>Sources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 </cp:lastModifiedBy>
  <cp:revision>577</cp:revision>
  <dcterms:created xsi:type="dcterms:W3CDTF">2013-07-15T20:26:40Z</dcterms:created>
  <dcterms:modified xsi:type="dcterms:W3CDTF">2018-12-06T10:53:45Z</dcterms:modified>
</cp:coreProperties>
</file>